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UdeSA Financial Engineering Course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02336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Variance Risk Premium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 a Return Predictor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1417320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8132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Replication of Bollerslev, Tauchen &amp; Zhou (2009)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Stock Returns and Variance Risk Premia, Review of Financial Studies 22(11), 2009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49424"/>
            <a:ext cx="841248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22576"/>
            <a:ext cx="84124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= IV − RV = VIX²/12 − Σr²_d  (variance risk premium construction)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Epstein–Zin recursive preferences: why volatility-of-volatility creates return predictability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regressions h = 1–24 months with Newey–West standard errors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reversal in 2008–2026: the paper’s result does not survive out-of-sample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48508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07 · 90 minutes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Course Roadmap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149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987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1170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VRP definition and its equilibrium foundations (Epstein–Zin)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13898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4721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1444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Signal Construction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16276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IV, RV, and VRP from daily SPX and VIX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18470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19293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1901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20848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regressions, sign reversal, and outlier diagnostics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23042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3865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" y="23591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Position Sizing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25420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VRP into binary and scaled trading signals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27614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8437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" y="2816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Backtest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" y="29992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returns, Sharpe ratio, and drawdown analysis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32186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3009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" y="3273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Paper Comparison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" y="34564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replication: our slopes vs. the paper’s slopes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6032" y="36758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" y="37581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58368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Checks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" y="39136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Ex-Oct-2008, volatility form, and HAR-RV expected VRP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" y="413308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215384"/>
            <a:ext cx="310896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58368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8368" y="437083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supports and what it does not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Theory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VRP and Its Equilibrium Foundations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Theory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Is the Variance Risk Premium?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32688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932688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VRP: Plain-Language Definition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1225296"/>
            <a:ext cx="4160520" cy="121615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89304"/>
            <a:ext cx="394106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VIX is the market’s price of variance insurance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swap: pay IV today, receive RV that materialises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IV &gt; RV consistently, investors pay a fear premium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VRPₜ = IVₜ − RVₜ  (positive = market over-prices variance)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514600"/>
            <a:ext cx="4160520" cy="141732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514600"/>
            <a:ext cx="4160520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2514600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Formula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807208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VRPₜ  =  IVₜ  −  RVₜ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IVₜ  =  VIX²ₜ / 12   (%²/month)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RVₜ  =  Σᵈ [100 × ln(Pᵈ/Pᵈ₋₁)]²</a:t>
            </a: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%² per month (variance, not volatility)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932688"/>
            <a:ext cx="192024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97840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8.99 %²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17720" y="143652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VRP (2008–2026)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47688" y="932688"/>
            <a:ext cx="192024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97840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85.2%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647688" y="143652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VRP &gt; 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1892808"/>
            <a:ext cx="1920240" cy="868680"/>
          </a:xfrm>
          <a:prstGeom prst="rect">
            <a:avLst/>
          </a:prstGeom>
          <a:solidFill>
            <a:srgbClr val="23373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93852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−0.10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17720" y="239664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AR(1) [paper: 0.49]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47688" y="1892808"/>
            <a:ext cx="1920240" cy="868680"/>
          </a:xfrm>
          <a:prstGeom prst="rect">
            <a:avLst/>
          </a:prstGeom>
          <a:solidFill>
            <a:srgbClr val="23373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7688" y="193852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47.3 %²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647688" y="239664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Std Dev [paper: 15.1]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2834640"/>
            <a:ext cx="3950208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83464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Our Sample vs. Paper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3127248"/>
            <a:ext cx="3950208" cy="80467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3191256"/>
            <a:ext cx="3730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(1990–2007): mean VRP = 18.30, AR(1) = 0.49 — persistent signal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(2008–2026): mean VRP = 8.99, AR(1) = −0.10 — near-random walk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crises (2008, 2020) dominate the distribution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Theory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Does VRP Predict Returns? Epstein–Zin Theory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32688"/>
            <a:ext cx="8631936" cy="137160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932688"/>
            <a:ext cx="8631936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93268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Equity Premium Decomposition (Bollerslev et al. Eq. 11)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271016"/>
            <a:ext cx="8412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π_r,t  =  γσ²_{g,t}  +  (1−θ)κ¹(A_q²φ_q² + A_σ²) × q_t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[consumption risk]  +  [volatility-of-volatility risk]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q_t = volatility of the variance process  |  γ = risk aversion  |  θ = EIS parameter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395728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395728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VRP Isolates q_t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2688336"/>
            <a:ext cx="4160520" cy="75895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52344"/>
            <a:ext cx="39410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VRP_t = Eᵀ(RV_{t+1}) − E(RV_{t+1})  measures the risk-neutral vs. physical variance gap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exactly proportional to q_t (vol-of-vol), the premium’s second term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→ q_t → equity premium: the causal chain is theory-based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395728"/>
            <a:ext cx="4279392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39572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the Quarterly Horizon?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688336"/>
            <a:ext cx="4279392" cy="75895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752344"/>
            <a:ext cx="40599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h=1: too noisy — monthly returns have low signal-to-noise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h=3: optimal — within q_t persistence window, noise averaged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h=12: q_t persistence fades, signal decays toward zero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peak: h=3, t=2.86, R²=6.82%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520440"/>
            <a:ext cx="8631936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520440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 Assumptions (and Our Departures)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3813048"/>
            <a:ext cx="8631936" cy="48463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77056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requires: (1) EZ preferences with IES &gt; 1 and risk aversion &gt; 1, (2) stochastic vol-of-vol process q_t, (3) persistent VRP (AR1 ≈ 0.5)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data: VRP AR1 = −0.10 — near-zero persistence violates assumption (3). The model’s prediction is conditional on q_t being persistent.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Theory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Paper’s Key Findings and What We Can Replicate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1828800"/>
        </p:xfrm>
        <a:graphic>
          <a:graphicData uri="http://schemas.openxmlformats.org/drawingml/2006/table">
            <a:tbl>
              <a:tblPr/>
              <a:tblGrid>
                <a:gridCol w="1726387"/>
                <a:gridCol w="1726387"/>
                <a:gridCol w="1726387"/>
                <a:gridCol w="1726387"/>
                <a:gridCol w="1726387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b₁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 (NW)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 positive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— strong quarterly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but fading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Weak, near 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2852928"/>
            <a:ext cx="4160520" cy="292608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" y="2852928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We CAN Replicate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6032" y="3145536"/>
            <a:ext cx="4160520" cy="80467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209544"/>
            <a:ext cx="39410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construction methodology (IV and RV formulas)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regression framework (Equation 17)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structure of the test (NW standard errors)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17720" y="2852928"/>
            <a:ext cx="4279392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90872" y="285292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We CANNOT Replicate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17720" y="3145536"/>
            <a:ext cx="4279392" cy="80467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3209544"/>
            <a:ext cx="40599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1990–2007 sample: SPX data starts Oct 28, 2008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intraday RV: we have daily data only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months of paper’s calm, persistent VRP regime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Signal Construction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IV, RV, and the Variance Risk Premium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Signal Construction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Sources and Sample Coverage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1572768"/>
        </p:xfrm>
        <a:graphic>
          <a:graphicData uri="http://schemas.openxmlformats.org/drawingml/2006/table">
            <a:tbl>
              <a:tblPr/>
              <a:tblGrid>
                <a:gridCol w="2157984"/>
                <a:gridCol w="2157984"/>
                <a:gridCol w="2157984"/>
                <a:gridCol w="215798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spx_prices.parquet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28 2008 – Feb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RV via daily log-returns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mid-crisis; Oct 2008 = 4 days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vix_historical.parquet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2000 – Mar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IV = VIX²/12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End-of-month sampling discards intra-month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interest_rates.parquet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1954 –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 proxy (Fed Funds / 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rate ≠ 3-month T-bill (paper’s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2651760"/>
            <a:ext cx="192024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2697480"/>
            <a:ext cx="1920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209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56032" y="3139684"/>
            <a:ext cx="1920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in sample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0" y="2651760"/>
            <a:ext cx="1920240" cy="841248"/>
          </a:xfrm>
          <a:prstGeom prst="rect">
            <a:avLst/>
          </a:prstGeom>
          <a:solidFill>
            <a:srgbClr val="23373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2697480"/>
            <a:ext cx="1920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Oct 2008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2286000" y="3139684"/>
            <a:ext cx="1920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(vs. 1990 in paper)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15968" y="2651760"/>
            <a:ext cx="1920240" cy="841248"/>
          </a:xfrm>
          <a:prstGeom prst="rect">
            <a:avLst/>
          </a:prstGeom>
          <a:solidFill>
            <a:srgbClr val="C0000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15968" y="2697480"/>
            <a:ext cx="1920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days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315968" y="3139684"/>
            <a:ext cx="1920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2008 trading days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45936" y="2651760"/>
            <a:ext cx="1920240" cy="841248"/>
          </a:xfrm>
          <a:prstGeom prst="rect">
            <a:avLst/>
          </a:prstGeom>
          <a:solidFill>
            <a:srgbClr val="2E75B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2697480"/>
            <a:ext cx="192024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Feb 2026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345936" y="3139684"/>
            <a:ext cx="192024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sample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6032" y="3584448"/>
            <a:ext cx="8631936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" y="3584448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Critical Data Artifact — October 2008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56032" y="3877056"/>
            <a:ext cx="8631936" cy="43891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9410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SPX series starts Oct 28, 2008. That month has only 4 trading days → RV = 10.1 %² (artificially tiny).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closed at 59 that month → IV = 59²/12 = 290. VRP = +289 %² — the highest in our sample, but entirely a data artifact.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Signal Construction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Realized Variance and Implied Variance: Construction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50976"/>
            <a:ext cx="4160520" cy="201168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950976"/>
            <a:ext cx="4160520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95097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Realized Variance (Daily Approximation)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289304"/>
            <a:ext cx="39410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RVₜ = Σ_{d ∈ month t} [100 × ln(P_d / P_{d-1})]²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Units: %² per 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Paper: 5-min intraday, n = 22 × 78 = 1,716 obs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Ours:  daily closes,   n ≈ 22 obs per month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mean RV = 29.52 %²  vs paper 14.93 %²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950976"/>
            <a:ext cx="4279392" cy="201168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950976"/>
            <a:ext cx="4279392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95097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Implied Variance (from VIX)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1289304"/>
            <a:ext cx="405993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IVₜ = VIX²_{t, EOM} / 12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VIX = annualized implied vol in 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VIX = 20  ⇒  IV = 400/12 = 33.3 %²/mo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mean IV = 33.23 (1990–2007)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mean IV   = 38.50 (2008–2026)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End-of-month sampling (last VIX close)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" y="3054096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05409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Daily RV is Noisier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3346704"/>
            <a:ext cx="4160520" cy="603504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10712"/>
            <a:ext cx="3941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observations vs 1,716 — sampling variance is ≈75× higher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2008 artifact (4 obs) would be impossible with 5-min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noise is not an issue at daily frequency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054096"/>
            <a:ext cx="4279392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05409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Unit Reconciliation (Both in %²/month)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3346704"/>
            <a:ext cx="4279392" cy="603504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3410712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VIX²/12 ⇒ annualized %² ÷ 12 = monthly %² ✓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(22): VRPₜ = VIX²_{t}/12 − Σ_{d ∈ t} r²_{d,%}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terms in identical units — no scaling needed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4023360"/>
            <a:ext cx="8631936" cy="292608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4023360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No-Lookahead Check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" y="4315968"/>
            <a:ext cx="8631936" cy="3657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799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VRPₜ uses only VIX and SPX prices within month t — fully known at month-end t, before t+1 begins.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forward return at t+1 on VRPₜ at t. Position computed at t applied to return at t+1. 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Signal Construction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VRP Assembly and Summary Statistics vs. Paper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50976"/>
            <a:ext cx="8631936" cy="804672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950976"/>
            <a:ext cx="8631936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9509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Formulas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28930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VRPₜ  =  IVₜ − RVₜ  =  VIX²_t / 12  −  Σ_{d ∈ t} r²_{d,%}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Rᵉ_{t+1}  =  ln(SPX_{t+1} / SPX_t)  −  r_{f,t}   (monthly excess return)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828800"/>
          <a:ext cx="8631936" cy="1828800"/>
        </p:xfrm>
        <a:graphic>
          <a:graphicData uri="http://schemas.openxmlformats.org/drawingml/2006/table">
            <a:tbl>
              <a:tblPr/>
              <a:tblGrid>
                <a:gridCol w="1233134"/>
                <a:gridCol w="1233134"/>
                <a:gridCol w="1233134"/>
                <a:gridCol w="1233134"/>
                <a:gridCol w="1233134"/>
                <a:gridCol w="1233134"/>
                <a:gridCol w="123313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Std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AR(1)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AR(1)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Ret. (ann.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(%²/mo)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(%²/mo)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 (%²/mo)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256032" y="3730752"/>
            <a:ext cx="8631936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" y="3730752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Differences Driving Failed Replication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56032" y="4023360"/>
            <a:ext cx="8631936" cy="4572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087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AR(1) = −0.10 (ours) vs 0.49 (paper): the signal has no persistence. Each month is essentially independent.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std = 63.95 (ours) vs 15.25 (paper): dominated by the March 2020 extreme (RV = 747 %²).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Signal Construction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Implied Variance, Realized Variance, and VRP Over Time (2008–2026)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32688"/>
            <a:ext cx="8631936" cy="3547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56032" y="4480560"/>
            <a:ext cx="8631936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449884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analog: IV (top) = VIX²/12; RV (mid) = daily approximation; VRP (bottom) = IV − RV. Grey shading = NBER recessions. Dashed line = sample mean.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Statistical Validation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Regressions and the Sign Reversal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Statistical Validation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Horizon Regression: Equation (17)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50976"/>
            <a:ext cx="8631936" cy="118872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950976"/>
            <a:ext cx="8631936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95097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 Predictive Regression — Bollerslev et al. Equation (17)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289304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(1/h) Σ_{j=1}^{h} rᵉ_{t+j}  =  b₀(h)  +  b₁(h) · VRPₜ  +  u_{t+h,t}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b₁(h) &gt; 0 is the paper’s prediction: high VRP today ⇒ high returns over next h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231136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23113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Forward Return Construction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2523744"/>
            <a:ext cx="4160520" cy="7315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87752"/>
            <a:ext cx="3941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returns.rolling(h).mean().shift(−h) at index t gives the mean of r_{t+1}, …, r_{t+h}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out-of-sample relative to VRPₜ which is known at 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windows for h &gt; 1 — creates MA(h−1) residual autocorrelation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231136"/>
            <a:ext cx="4279392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231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Standard Errors (Newey–West HAC)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523744"/>
            <a:ext cx="4279392" cy="7315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587752"/>
            <a:ext cx="4059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uses Hodrick (1992) reverse-regression 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Newey–West with maxlags = h (similar correction)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correct for MA(h−1) overlap bias in overlapping returns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SE tend to be slightly more conservative than Hodrick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328416"/>
            <a:ext cx="8631936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328416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Interpreting the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3621024"/>
            <a:ext cx="8631936" cy="6400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85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≈ 0.47 at h=3 (paper): a 1 %² increase in VRP → +0.47% higher quarterly return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6.82% at h=3 (paper): VRP explains 6.82% of variation in 3-month forward returns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hump shape — R² rising then falling with h — is the paper’s diagnostic signature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Statistical Validation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Table 2 Analog: VRP→Return Regression Results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2212848"/>
        </p:xfrm>
        <a:graphic>
          <a:graphicData uri="http://schemas.openxmlformats.org/drawingml/2006/table">
            <a:tbl>
              <a:tblPr/>
              <a:tblGrid>
                <a:gridCol w="1233134"/>
                <a:gridCol w="1233134"/>
                <a:gridCol w="1233134"/>
                <a:gridCol w="1233134"/>
                <a:gridCol w="1233134"/>
                <a:gridCol w="1233134"/>
                <a:gridCol w="123313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b₁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b₁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t-stat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t-stat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R²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" y="320040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2008–10 to 2026–02, N=209 months, Newey–West SE (maxlags=h).  Paper: 1990–01 to 2007–12, N=216 months, Hodrick (1992) SE.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" y="3511296"/>
            <a:ext cx="8631936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" y="3511296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Slope Sign is Negative at Every Single Horizon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6032" y="3803904"/>
            <a:ext cx="8631936" cy="48463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867912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b₁ positive and hump-shaped, peaking at h=3. Ours: b₁ negative and monotonically increasing toward zero.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of the result has completely reversed — this is not a magnitude difference but a qualitative failure to replicate.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Statistical Validation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Estimated Slopes and R² Across Horizons: Paper vs. Ours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32688"/>
            <a:ext cx="8631936" cy="3429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56032" y="4361688"/>
            <a:ext cx="8631936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4379976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Slope b₁(h) with 95% CI — paper (red ▲) is positive at all horizons; ours (blue ●) is negative. Bottom: Adj. R² — paper peaks at h=3 (6.82%); ours is flat.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Statistical Validation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Do We Actually See? The Sign Reversal Explained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50976"/>
            <a:ext cx="4160520" cy="292608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95097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Paper: 1990–2007 Finding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1243584"/>
            <a:ext cx="4160520" cy="107899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307592"/>
            <a:ext cx="39410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h=3: b₁ = +0.47, t = +2.86, R² = 6.82%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at every horizon: high VRP ⇒ high returns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Hump-shaped R²: peaks quarterly, decays at 12m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AR(1) = 0.49: signal is persistent, predictable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950976"/>
            <a:ext cx="4279392" cy="2926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9509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Ours: 2008–2026 Finding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243584"/>
            <a:ext cx="4279392" cy="107899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307592"/>
            <a:ext cx="4059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h=3: b₁ = −0.005, t = −0.96, R² = 0.42%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at every horizon: high VRP ⇒ bad returns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R² profile (0.4%–3%), no quarterly hump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AR(1) = −0.10: near-zero persistence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414016"/>
            <a:ext cx="8631936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414016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Observation Pairs Drive the Sign Reversal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2706624"/>
            <a:ext cx="8631936" cy="98755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70632"/>
            <a:ext cx="8412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2008 (VRP = +289, data artifact: 4 trading days only) → Nov 2008 = −7.9%:  high VRP → big loss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2020 (VRP = +85, COVID fear spiked VIX before the crash) → Mar 2020 = −13.4%:  high VRP → disaster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2020 (VRP = −509, realized vol exploded past implied) → Apr 2020 = +11.9%:  low VRP → big gain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767328"/>
            <a:ext cx="8631936" cy="29260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767328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Takeaway: Regime Change in VRP Timing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4059936"/>
            <a:ext cx="8631936" cy="420624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2394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1990–2007: fear spikes (high VRP) were forward-looking — followed by recovery. 2008–2026: fear spikes coincide with crashes already in progress, then recoveries follow the low-VRP crash month.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Position Sizing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VRP into Trading Signals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Position Sizing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Position Sizing: Binary and Scaled VRP Signals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50976"/>
            <a:ext cx="4160520" cy="114300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950976"/>
            <a:ext cx="4160520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950976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Binary Signal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1289304"/>
            <a:ext cx="39410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positionₜ = 1  if VRPₜ &gt;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positionₜ = 0  otherwise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long S&amp;P 500 when fear premium is positive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950976"/>
            <a:ext cx="4279392" cy="1143000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950976"/>
            <a:ext cx="4279392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95097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Scaled Signal (Z-score)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1289304"/>
            <a:ext cx="40599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zₜ = (VRPₜ − μ_{36}) / σ_{36}   (rolling 36-month)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positionₜ = clip(zₜ, 0, 2) / 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proportional to how extreme VRP is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194560"/>
          <a:ext cx="8631936" cy="1115568"/>
        </p:xfrm>
        <a:graphic>
          <a:graphicData uri="http://schemas.openxmlformats.org/drawingml/2006/table">
            <a:tbl>
              <a:tblPr/>
              <a:tblGrid>
                <a:gridCol w="1726387"/>
                <a:gridCol w="1726387"/>
                <a:gridCol w="1726387"/>
                <a:gridCol w="1726387"/>
                <a:gridCol w="1726387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&gt; 0 fraction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VRP&gt;0 months: return/mo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VRP&lt;0 months: return/mo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 (178/209 months)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+1.03% (+12.4% ann.)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−0.27% (−3.2% ann.)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VRP 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(proportional)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(proportional)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256032" y="3401568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" y="3401568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No-Lookahead Enforcement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56032" y="3694176"/>
            <a:ext cx="4160520" cy="603504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3758184"/>
            <a:ext cx="3941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positionₜ is computed at month-end 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return r_{t+1} via .shift(1) in backtest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VRPₜ uses only data available at t ✓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17720" y="3401568"/>
            <a:ext cx="4279392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90872" y="3401568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Conditional Returns (Contemporaneous)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17720" y="3694176"/>
            <a:ext cx="4279392" cy="603504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27448" y="3758184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VRP&gt;0 months average +1.03%/mo — but this is same-month!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 comparison ≠ predictive regression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Next-month conditioning is the correct test (Section 3)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Backtest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Performance: VRP Timing vs. Buy &amp; Hold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Backtest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Backtest Performance: 2008–10 to 2026–02 (N = 209 months)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2212848"/>
        </p:xfrm>
        <a:graphic>
          <a:graphicData uri="http://schemas.openxmlformats.org/drawingml/2006/table">
            <a:tbl>
              <a:tblPr/>
              <a:tblGrid>
                <a:gridCol w="1726387"/>
                <a:gridCol w="1726387"/>
                <a:gridCol w="1726387"/>
                <a:gridCol w="1726387"/>
                <a:gridCol w="1726387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&amp; 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Scaled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vs. B&amp;H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Volatility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−9.3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3264408"/>
            <a:ext cx="1920240" cy="868680"/>
          </a:xfrm>
          <a:prstGeom prst="rect">
            <a:avLst/>
          </a:prstGeom>
          <a:solidFill>
            <a:srgbClr val="2E75B6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331012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0.75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56032" y="376824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Binary Sharpe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0" y="3264408"/>
            <a:ext cx="1920240" cy="868680"/>
          </a:xfrm>
          <a:prstGeom prst="rect">
            <a:avLst/>
          </a:prstGeom>
          <a:solidFill>
            <a:srgbClr val="23373B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0" y="331012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0.68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2286000" y="376824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Sharpe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15968" y="3264408"/>
            <a:ext cx="1920240" cy="868680"/>
          </a:xfrm>
          <a:prstGeom prst="rect">
            <a:avLst/>
          </a:prstGeom>
          <a:solidFill>
            <a:srgbClr val="1A734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15968" y="331012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−22.6%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315968" y="376824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Binary Max DD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45936" y="3264408"/>
            <a:ext cx="1920240" cy="868680"/>
          </a:xfrm>
          <a:prstGeom prst="rect">
            <a:avLst/>
          </a:prstGeom>
          <a:solidFill>
            <a:srgbClr val="C0000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3310128"/>
            <a:ext cx="192024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−29.4%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345936" y="3768242"/>
            <a:ext cx="19202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Max DD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6032" y="4206240"/>
            <a:ext cx="8631936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" y="4206240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Mechanism: Tail-Risk Filter, Not Return Predictor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56032" y="4498848"/>
            <a:ext cx="8631936" cy="27432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56285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is flat 14.8% of months (VRP&lt;0). Those 31 months include Nov 2008, Mar 2020, Aug 2011 — the worst episodes. Avoiding them reduces the left tail. Hit rate drops (55.3% vs 64.6%) because up-months are also missed. Net: modest Sharpe lift.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Backtest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Cumulative Returns and Rolling 12-Month Sharpe Ratio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32688"/>
            <a:ext cx="8631936" cy="3429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56032" y="4361688"/>
            <a:ext cx="8631936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4379976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Cumulative log-returns. VRP Binary (orange) closely tracks Buy &amp; Hold (blue) with lower drawdown in 2009 and 2020. VRP Scaled (green) is much flatter. Bottom: Rolling 12-month Sharpe — Binary stays modestly above B&amp;H through most windows.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Paper Comparison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Replication: Slopes, t-stats, and R²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Paper Comparison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Table 2 Replication: Bollerslev et al. (1990–2007) vs. Ours (2008–2026)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2212848"/>
        </p:xfrm>
        <a:graphic>
          <a:graphicData uri="http://schemas.openxmlformats.org/drawingml/2006/table">
            <a:tbl>
              <a:tblPr/>
              <a:tblGrid>
                <a:gridCol w="1233134"/>
                <a:gridCol w="1233134"/>
                <a:gridCol w="1233134"/>
                <a:gridCol w="1233134"/>
                <a:gridCol w="1233134"/>
                <a:gridCol w="1233134"/>
                <a:gridCol w="123313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b₁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b₁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R²%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R²%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256032" y="320040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positive (paper direction). Red = negative (our direction). H=3 is the paper’s peak: R² drops from 6.82% to 0.42% in our sample.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" y="3511296"/>
            <a:ext cx="416052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" y="351129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Shape Comparison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6032" y="3803904"/>
            <a:ext cx="4160520" cy="48463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867912"/>
            <a:ext cx="39410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hump-shaped R² peaking at h=3, then decaying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flat/slightly rising R² from h=1 to h=24 (0.4%→3.0%)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magnitude AND the shape fail to replicate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7720" y="3511296"/>
            <a:ext cx="4279392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51129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Causes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17720" y="3803904"/>
            <a:ext cx="4279392" cy="48463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27448" y="3867912"/>
            <a:ext cx="40599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Wrong sample epoch — dominant driver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Oct 2008 partial-month artifact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Feb–Mar 2020 outlier pair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Daily vs 5-min RV (noise, not sign)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Paper Comparison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Slope and R² Profiles: Paper (Red) vs. Ours (Blue)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32688"/>
            <a:ext cx="8631936" cy="332841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56032" y="4261104"/>
            <a:ext cx="8631936" cy="182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4279392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slope b₁(h) — zero line cleanly separates both samples at all horizons. Right: adj. R²(h) — paper’s hump peaks at h=3; ours is flat. Both shape and sign differ.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Checks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Alternative Specifications Change the Sign?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Robustness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Checks: Three Alternative Specifications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50976"/>
            <a:ext cx="4160520" cy="292608"/>
          </a:xfrm>
          <a:prstGeom prst="rect">
            <a:avLst/>
          </a:prstGeom>
          <a:solidFill>
            <a:srgbClr val="23373B"/>
          </a:solidFill>
          <a:ln w="12700">
            <a:solidFill>
              <a:srgbClr val="2337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950976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Check 1: Excluding October 2008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1243584"/>
            <a:ext cx="4160520" cy="112471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307592"/>
            <a:ext cx="394106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 h=1: −0.012 → −0.008 (less negative, but still negative)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 h=3: −0.005 → −0.001 (near zero but still negative)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at h=12: −0.003 → −0.003 (unchanged)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Oct 2008 partly drives h=1; Feb–Mar 2020 dominates h=3+. Sign reversal is structural.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950976"/>
            <a:ext cx="4279392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9509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Check 2: Volatility Form √IV − √RV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243584"/>
            <a:ext cx="4279392" cy="112471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307592"/>
            <a:ext cx="40599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(quarterly): t = 2.75, R² = 6.51% (vs 2.86 / 6.82% in variance form)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h=1: t = −0.46 | h=3: t = −0.63 | h=6: t = −1.03 | h=12: t = −1.62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compresses outlier magnitudes but does not change sign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all slopes remain negative across all horizons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468880"/>
            <a:ext cx="8631936" cy="292608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468880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Check 3: HAR-RV Expected VRP (EVRP) — Nearly Replicates the Paper!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2761488"/>
            <a:ext cx="8631936" cy="121615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25496"/>
            <a:ext cx="84124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raw RVₜ with a HAR-RV forecast: EVRPₜ = IVₜ − Eₜ[RV_{t+1}]  (Corsi 2004 model, R² = 0.35)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EVRP mean = 9.28, std = 25.50, AR(1) = 0.23 — smoothing restores partial signal persistence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3:  t = +2.79,  R² = 5.91%  — nearly matches paper (t = 2.86,  R² = 6.82%)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6:  t = +2.99,  R² = 6.38%  — even stronger.   h = 12:  t = +2.47,  R² = 4.97%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4050792"/>
            <a:ext cx="8631936" cy="292608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050792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Conclusion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6032" y="4343400"/>
            <a:ext cx="8631936" cy="16459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407408"/>
            <a:ext cx="84124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EVRP (smoothed RV) recovers the sign. Raw VRP reversal = RV crash noise, not a structural IV-return change.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1005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5B6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1417320" y="1280160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4173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Honest Assessment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Replication Can and Cannot 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9452"/>
            <a:ext cx="8979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Honest Assessment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Honest Assessment: Paper vs. Notebook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2578608"/>
        </p:xfrm>
        <a:graphic>
          <a:graphicData uri="http://schemas.openxmlformats.org/drawingml/2006/table">
            <a:tbl>
              <a:tblPr/>
              <a:tblGrid>
                <a:gridCol w="2157984"/>
                <a:gridCol w="2157984"/>
                <a:gridCol w="2157984"/>
                <a:gridCol w="21579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(1990–2007)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Notebook (2008–2026)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VRP Sign +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Mean=18.3, AR(1)=0.49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Mean=9.0, AR(1)=−0.10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✓, persistence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b₁=+0.47, t=+2.86, R²=6.82%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b₁=−0.005, t=−0.96, R²=0.42%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REVERSED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Hump-shaped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Peaks at h=3 then decays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0.4%–3.0%, no hump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fails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 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~2× uplift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 → 0.75 (+0.07)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4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 improvement 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−29.4% → −22.6%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improvement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EVRP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t=2.27, R²=4.27% (h=3)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t=2.79, R²=5.91% (h=3)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Replicates!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3621024"/>
            <a:ext cx="8631936" cy="292608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" y="3621024"/>
            <a:ext cx="8485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the Data Supports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6032" y="3913632"/>
            <a:ext cx="8631936" cy="393192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977640"/>
            <a:ext cx="8412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is positive 85% of months (variance insurance premium is real). Avoiding VRP-negative months reduces max drawdown by 6.8 pp. HAR-RV smoothing recovers the paper’s quarterly predictability signal (EVRP t=2.79).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Honest Assessment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Replication Fails: Structural Reasons and the Broader Lesson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50976"/>
          <a:ext cx="8631936" cy="2487168"/>
        </p:xfrm>
        <a:graphic>
          <a:graphicData uri="http://schemas.openxmlformats.org/drawingml/2006/table">
            <a:tbl>
              <a:tblPr/>
              <a:tblGrid>
                <a:gridCol w="2877312"/>
                <a:gridCol w="2877312"/>
                <a:gridCol w="28773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Discrepancy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of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epoch (2008–2026 vs. 1990–2007)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sign (dominant)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2008 partial-month artifact (4 trading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Worsens h=1 negative 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Feb–Mar 2020 outlier pair (COVID crash + recovery)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negative h=3 to h=12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vs 5-minute realized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Weakens signal (noise), not 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Newey–West vs. Hodrick (1992) standard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different t-stats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 Funds vs. 3-month T-bill as risk-free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 in low-rate 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256032" y="3529584"/>
            <a:ext cx="8631936" cy="932688"/>
          </a:xfrm>
          <a:prstGeom prst="rect">
            <a:avLst/>
          </a:prstGeom>
          <a:solidFill>
            <a:srgbClr val="FFF8E7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" y="3529584"/>
            <a:ext cx="8631936" cy="27432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" y="352958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Broader Lesson: Sample Sensitivity in Empirical Asset Pricing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38221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paper’s 1990–2007 regime had: (1) moderate persistent VRP (AR1=0.49), (2) no single catastrophic outlier pair, (3) fear spikes followed by recovery returns.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2008–2026 regime has: near-zero VRP persistence, extreme outlier pairs dominating the regression, and fear spikes that immediately precede crashes rather than predict recoveries.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005840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950976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= IV − RV is theoretically motivated: Epstein–Zin preferences with stochastic vol-of-vol (q_t) create an equity premium component measured exactly by the VRP spread.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408176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481328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" y="1426464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finds peak predictability at h=3: b₁=+0.47, t=+2.86, R²=6.82% for 1990–2007 — the VRP-return relationship is positive and significant at the quarterly horizon.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1883664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1956816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" y="1901952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2008–2026 replication finds the exact opposite: all slopes negative. Two outlier pairs (Oct–Nov 2008; Feb–Mar 2020) run the regression in reverse and dominate the 209-month sample.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359152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432304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" y="2377440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AR(1) collapses from 0.49 (paper) to −0.10 (ours) — near-zero persistence is inconsistent with the model’s persistent q_t assumption and makes the signal unreliable.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2834640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2907792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" y="2852928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VRP Binary strategy improves Sharpe from 0.68 to 0.75 and cuts max drawdown from −29.4% to −22.6%, but by avoiding the 14.8% of crash months, not by predicting returns.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310128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383280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" y="3328416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HAR-RV Expected VRP recovers the paper’s finding: EVRP at h=3 gives t=+2.79, R²=5.91% — smoothing realized variance restores predictability even in the post-2008 sample.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3785616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3858768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" y="3803904"/>
            <a:ext cx="8275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sensitivity is the central lesson. Out-of-sample testing in a structurally different epoch is as informative as the original result — both findings are true within their own epoch.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89120" y="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347472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65760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Discussion Questions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832104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969264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969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" y="950976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stopped at December 2007 to avoid the GFC. Is this a strength (clean signal, pre-crisis) or a limitation (implicit sample selection / p-hacking risk)? How would you test for this?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1719072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755648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1737360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managing a volatility fund in 2008, would you continue using the VRP signal after the October 2008 partial-month artifact? Design a real-time monitoring rule that would have flagged this observation.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2505456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54203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2523744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EVRP (using HAR-RV forecast of RV) nearly replicates the paper’s result even in our post-2008 sample (t=2.79 vs. 2.86). Why might replacing realized with expected RV recover predictability?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" y="3291840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328416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" y="3310128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AR(1) drops from 0.49 (paper) to −0.10 (ours). Which structural changes — options market microstructure, QE/central bank intervention, index products growth — could explain this collapse in persistence?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4078224"/>
            <a:ext cx="8631936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4114800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" y="4096512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robustness test to determine whether the 2008 and 2020 outlier pairs are the sole drivers of the negative slope, or whether the post-2008 regime shift produces a different result even when those specific months are excluded.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Engineering · Lecture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[L] Bollerslev, T., Tauchen, G., &amp; Zhou, H. (2009). Expected stock returns and variance risk premia. Review of Financial Studies, 22(11), 4463–4492.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8412480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45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 Corsi, F. (2004). A simple approximate long-memory model of realized volatility. Journal of Financial Econometrics, 7(2), 174–196.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8412480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[M] Epstein, L. G., &amp; Zin, S. E. (1989). Substitution, risk aversion, and the temporal behavior of consumption and asset returns. Econometrica, 57(4), 937–969.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8412480" cy="18288"/>
          </a:xfrm>
          <a:prstGeom prst="rect">
            <a:avLst/>
          </a:prstGeom>
          <a:solidFill>
            <a:srgbClr val="D0E0F0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5117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[H] Bozovic, M. (2024). VIX-managed portfolios. Working paper.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8412480" cy="228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32004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48508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Bollerslev, Tauchen &amp; Zhou (2009) · Rev. Financial Studies 22(11)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0" y="48508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2026-04-14T20:05:12Z</dcterms:created>
  <dcterms:modified xsi:type="dcterms:W3CDTF">2026-04-14T20:05:12Z</dcterms:modified>
</cp:coreProperties>
</file>